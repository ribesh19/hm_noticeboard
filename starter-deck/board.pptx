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0D"/>
              </a:gs>
              <a:gs pos="100000">
                <a:srgbClr val="06120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515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TODAY AT HOCKLEY MINT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F3EFE4"/>
                </a:solidFill>
                <a:latin typeface="Georgia"/>
              </a:rPr>
              <a:t>Good morning, co-owners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6126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FE8DD"/>
                </a:solidFill>
                <a:latin typeface="Arial"/>
              </a:rPr>
              <a:t>A quick look at the notices, events, birthdays, values and useful updates for the workshop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74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C9A45C"/>
                </a:solidFill>
                <a:latin typeface="Arial"/>
              </a:rPr>
              <a:t>WORKSHOP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2239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07:30 – 17:00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697480"/>
            <a:ext cx="3108960" cy="15266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0D"/>
              </a:gs>
              <a:gs pos="100000">
                <a:srgbClr val="06120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ANNOUNCEMENTS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6766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3EFE4"/>
                </a:solidFill>
                <a:latin typeface="Georgia"/>
              </a:rPr>
              <a:t>Annual co-owners'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CFE8DD"/>
                </a:solidFill>
                <a:latin typeface="Arial"/>
              </a:rPr>
              <a:t>All co-owners are invited to the main workshop. Agenda: FY results, Aurora collection, sustainability update and open Q&amp;A.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2103120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23960" y="23317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ECD6A3"/>
                </a:solidFill>
                <a:latin typeface="Arial"/>
              </a:rPr>
              <a:t>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269748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Friday 16 May
15:00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C9A45C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489703"/>
            <a:ext cx="6035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Refreshments from 14:30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093207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C9A45C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148071"/>
            <a:ext cx="6035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RSVP on the kitchen sign-up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51575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C9A45C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806439"/>
            <a:ext cx="6035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Questions welcome in advance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01A"/>
              </a:gs>
              <a:gs pos="100000">
                <a:srgbClr val="0B201A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720" y="548640"/>
            <a:ext cx="146304" cy="146304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"/>
            <a:ext cx="91440" cy="91440"/>
          </a:xfrm>
          <a:prstGeom prst="ellipse">
            <a:avLst/>
          </a:prstGeom>
          <a:solidFill>
            <a:srgbClr val="CF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0" y="713232"/>
            <a:ext cx="109728" cy="109728"/>
          </a:xfrm>
          <a:prstGeom prst="ellipse">
            <a:avLst/>
          </a:prstGeom>
          <a:solidFill>
            <a:srgbClr val="ECD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66560" y="502920"/>
            <a:ext cx="91440" cy="91440"/>
          </a:xfrm>
          <a:prstGeom prst="ellipse">
            <a:avLst/>
          </a:prstGeom>
          <a:solidFill>
            <a:srgbClr val="CF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680960" y="640080"/>
            <a:ext cx="82296" cy="82296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FE8DD"/>
                </a:solidFill>
                <a:latin typeface="Arial"/>
              </a:rPr>
              <a:t>BIRTHDAY CELEBRATION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3EFE4"/>
                </a:solidFill>
                <a:latin typeface="Georgia"/>
              </a:rPr>
              <a:t>Happy Birthday, Aisha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6126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FE8DD"/>
                </a:solidFill>
                <a:latin typeface="Arial"/>
              </a:rPr>
              <a:t>Wishing you a wonderful day from everyone at Hockley Mint. Thank you for the care and craft you bring to the workshop.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486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C9A45C"/>
                </a:solidFill>
                <a:latin typeface="Arial"/>
              </a:rPr>
              <a:t>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3387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Your Hockley Mint team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240280"/>
            <a:ext cx="2971800" cy="36576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C9A45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384048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 spc="200">
                <a:solidFill>
                  <a:srgbClr val="BECDC4"/>
                </a:solidFill>
                <a:latin typeface="Arial"/>
              </a:rPr>
              <a:t>Add a photo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0D"/>
              </a:gs>
              <a:gs pos="100000">
                <a:srgbClr val="06120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UPCOMING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3EFE4"/>
                </a:solidFill>
                <a:latin typeface="Georgia"/>
              </a:rPr>
              <a:t>This fortnight at the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FE8DD"/>
                </a:solidFill>
                <a:latin typeface="Arial"/>
              </a:rPr>
              <a:t>Key dates and useful reminders for everyone on site.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429000"/>
            <a:ext cx="1828800" cy="713232"/>
          </a:xfrm>
          <a:prstGeom prst="roundRect">
            <a:avLst>
              <a:gd name="adj" fmla="val 18000"/>
            </a:avLst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6120D"/>
                </a:solidFill>
                <a:latin typeface="Georgia"/>
              </a:rPr>
              <a:t>08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429000"/>
            <a:ext cx="7680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F3EFE4"/>
                </a:solidFill>
                <a:latin typeface="Arial"/>
              </a:rPr>
              <a:t>Co-owners coffee  ·  Kitchen  ·  09:00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361688"/>
            <a:ext cx="1828800" cy="713232"/>
          </a:xfrm>
          <a:prstGeom prst="roundRect">
            <a:avLst>
              <a:gd name="adj" fmla="val 18000"/>
            </a:avLst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61688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6120D"/>
                </a:solidFill>
                <a:latin typeface="Georgia"/>
              </a:rPr>
              <a:t>13 May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361688"/>
            <a:ext cx="7680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F3EFE4"/>
                </a:solidFill>
                <a:latin typeface="Arial"/>
              </a:rPr>
              <a:t>Fire drill  ·  whole building  ·  11:30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294375"/>
            <a:ext cx="1828800" cy="713232"/>
          </a:xfrm>
          <a:prstGeom prst="roundRect">
            <a:avLst>
              <a:gd name="adj" fmla="val 18000"/>
            </a:avLst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94375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6120D"/>
                </a:solidFill>
                <a:latin typeface="Georgia"/>
              </a:rPr>
              <a:t>22 May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5294375"/>
            <a:ext cx="7680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F3EFE4"/>
                </a:solidFill>
                <a:latin typeface="Arial"/>
              </a:rPr>
              <a:t>Aurora press preview  ·  Showroom  ·  10:00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0D"/>
              </a:gs>
              <a:gs pos="100000">
                <a:srgbClr val="06120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OUR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3EFE4"/>
                </a:solidFill>
                <a:latin typeface="Georgia"/>
              </a:rPr>
              <a:t>What we stand for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514600"/>
            <a:ext cx="4983480" cy="169164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2990088"/>
            <a:ext cx="731520" cy="73152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>
                <a:solidFill>
                  <a:srgbClr val="06120D"/>
                </a:solidFill>
                <a:latin typeface="Arial"/>
              </a:rPr>
              <a:t>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514600"/>
            <a:ext cx="342900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Kind to our environment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514600"/>
            <a:ext cx="4983480" cy="169164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0" y="2990088"/>
            <a:ext cx="731520" cy="73152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>
                <a:solidFill>
                  <a:srgbClr val="06120D"/>
                </a:solidFill>
                <a:latin typeface="Arial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514600"/>
            <a:ext cx="342900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Delighted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617720"/>
            <a:ext cx="4983480" cy="169164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5093208"/>
            <a:ext cx="731520" cy="73152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>
                <a:solidFill>
                  <a:srgbClr val="06120D"/>
                </a:solidFill>
                <a:latin typeface="Arial"/>
              </a:rPr>
              <a:t>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617720"/>
            <a:ext cx="342900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Honest British craftsmanship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617720"/>
            <a:ext cx="4983480" cy="169164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5093208"/>
            <a:ext cx="731520" cy="73152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>
                <a:solidFill>
                  <a:srgbClr val="06120D"/>
                </a:solidFill>
                <a:latin typeface="Arial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617720"/>
            <a:ext cx="342900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Happy co-owners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0D"/>
              </a:gs>
              <a:gs pos="100000">
                <a:srgbClr val="06120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F2C66A"/>
                </a:solidFill>
                <a:latin typeface="Arial"/>
              </a:rPr>
              <a:t>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3EFE4"/>
                </a:solidFill>
                <a:latin typeface="Georgia"/>
              </a:rPr>
              <a:t>Fire drill on Tuesday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CFE8DD"/>
                </a:solidFill>
                <a:latin typeface="Arial"/>
              </a:rPr>
              <a:t>Scheduled drill for all departments. Please leave by your nearest route and meet at the east car park assembly 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011680"/>
            <a:ext cx="2743200" cy="146304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E3A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22860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F2C66A"/>
                </a:solidFill>
                <a:latin typeface="Arial"/>
              </a:rPr>
              <a:t>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65176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3EFE4"/>
                </a:solidFill>
                <a:latin typeface="Georgia"/>
              </a:rPr>
              <a:t>Tuesday, 11:30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343400"/>
            <a:ext cx="292608" cy="292608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06120D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80"/>
            <a:ext cx="694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Do not use lifts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910328"/>
            <a:ext cx="292608" cy="292608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06120D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864608"/>
            <a:ext cx="694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Take visitors with you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5477256"/>
            <a:ext cx="292608" cy="292608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06120D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431536"/>
            <a:ext cx="694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Return only when cleared by Facilities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01A"/>
              </a:gs>
              <a:gs pos="100000">
                <a:srgbClr val="0B201A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SHOUT-OUTS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3EFE4"/>
                </a:solidFill>
                <a:latin typeface="Georgia"/>
              </a:rPr>
              <a:t>Kudos from the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FE8DD"/>
                </a:solidFill>
                <a:latin typeface="Arial"/>
              </a:rPr>
              <a:t>Small notes of appreciation from around the business.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200400"/>
            <a:ext cx="3383280" cy="269748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34440" y="3566160"/>
            <a:ext cx="777240" cy="77724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1">
                <a:solidFill>
                  <a:srgbClr val="06120D"/>
                </a:solidFill>
                <a:latin typeface="Georgia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52628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ECD6A3"/>
                </a:solidFill>
                <a:latin typeface="Georgia"/>
              </a:rPr>
              <a:t>Casting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98348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3EFE4"/>
                </a:solidFill>
                <a:latin typeface="Arial"/>
              </a:rPr>
              <a:t>Q1 wedding band run shipped a day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3200400"/>
            <a:ext cx="3383280" cy="269748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01768" y="3566160"/>
            <a:ext cx="777240" cy="77724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1">
                <a:solidFill>
                  <a:srgbClr val="06120D"/>
                </a:solidFill>
                <a:latin typeface="Georgia"/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452628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ECD6A3"/>
                </a:solidFill>
                <a:latin typeface="Georgia"/>
              </a:rPr>
              <a:t>CAD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1768" y="498348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3EFE4"/>
                </a:solidFill>
                <a:latin typeface="Arial"/>
              </a:rPr>
              <a:t>Bespoke commission turned around in 48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03336" y="3200400"/>
            <a:ext cx="3383280" cy="269748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769096" y="3566160"/>
            <a:ext cx="777240" cy="77724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1">
                <a:solidFill>
                  <a:srgbClr val="06120D"/>
                </a:solidFill>
                <a:latin typeface="Georgia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452628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ECD6A3"/>
                </a:solidFill>
                <a:latin typeface="Georgia"/>
              </a:rPr>
              <a:t>Despatch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9096" y="498348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3EFE4"/>
                </a:solidFill>
                <a:latin typeface="Arial"/>
              </a:rPr>
              <a:t>Every next-day parcel out before cut-off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0D"/>
              </a:gs>
              <a:gs pos="100000">
                <a:srgbClr val="06120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972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USEFUL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3EFE4"/>
                </a:solidFill>
                <a:latin typeface="Georgia"/>
              </a:rPr>
              <a:t>Brand Guidelines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80360"/>
            <a:ext cx="6126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FE8DD"/>
                </a:solidFill>
                <a:latin typeface="Arial"/>
              </a:rPr>
              <a:t>The latest brand guidelines are available for anyone preparing internal or customer-facing materials.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548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C9A45C"/>
                </a:solidFill>
                <a:latin typeface="Arial"/>
              </a:rPr>
              <a:t>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0235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P4707 Hockley Mint Brand Guidelines V2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2148840"/>
            <a:ext cx="2743200" cy="3566160"/>
          </a:xfrm>
          <a:prstGeom prst="roundRect">
            <a:avLst>
              <a:gd name="adj" fmla="val 3000"/>
            </a:avLst>
          </a:prstGeom>
          <a:solidFill>
            <a:srgbClr val="F3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61320" y="2148840"/>
            <a:ext cx="731520" cy="502920"/>
          </a:xfrm>
          <a:prstGeom prst="rect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61320" y="2148840"/>
            <a:ext cx="731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6120D"/>
                </a:solidFill>
                <a:latin typeface="Arial"/>
              </a:rPr>
              <a:t>PDF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2971800"/>
            <a:ext cx="201168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69680" y="3355848"/>
            <a:ext cx="219456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69680" y="3739896"/>
            <a:ext cx="164592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680" y="4123944"/>
            <a:ext cx="219456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69680" y="4507992"/>
            <a:ext cx="192024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69680" y="4892040"/>
            <a:ext cx="146304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