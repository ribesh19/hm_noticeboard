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0515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FDF3D6"/>
                </a:solidFill>
                <a:latin typeface="Arial"/>
              </a:rPr>
              <a:t>TODAY AT HOCKLEY MINT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DF3D6"/>
                </a:solidFill>
                <a:latin typeface="Georgia"/>
              </a:rPr>
              <a:t>Good morning, co-owners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6126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DF3D6"/>
                </a:solidFill>
                <a:latin typeface="Arial"/>
              </a:rPr>
              <a:t>A quick look at the notices, events, birthdays, values and useful updates for the workshop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spc="300">
                <a:solidFill>
                  <a:srgbClr val="00A478"/>
                </a:solidFill>
                <a:latin typeface="Arial"/>
              </a:rPr>
              <a:t>WORKSHOP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2239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DF3D6"/>
                </a:solidFill>
                <a:latin typeface="Georgia"/>
              </a:rPr>
              <a:t>07:30 - 17:00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697480"/>
            <a:ext cx="3108960" cy="1526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868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00A478"/>
                </a:solidFill>
                <a:latin typeface="Arial"/>
              </a:rPr>
              <a:t>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03D22"/>
                </a:solidFill>
                <a:latin typeface="Georgia"/>
              </a:rPr>
              <a:t>Annual co-owners'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All co-owners are invited to the main workshop. Agenda: FY results, Aurora collection, sustainability update and open Q&amp;A.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1031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2331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spc="300">
                <a:solidFill>
                  <a:srgbClr val="FDF3D6"/>
                </a:solidFill>
                <a:latin typeface="Arial"/>
              </a:rPr>
              <a:t>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697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DF3D6"/>
                </a:solidFill>
                <a:latin typeface="Georgia"/>
              </a:rPr>
              <a:t>Friday 16 May
15:00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0A478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489703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Refreshments from 14:30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93207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0A478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48071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RSVP on the kitchen sign-up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51575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0A478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806439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Questions welcome in advance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474720" y="548640"/>
            <a:ext cx="146304" cy="146304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"/>
            <a:ext cx="91440" cy="91440"/>
          </a:xfrm>
          <a:prstGeom prst="ellipse">
            <a:avLst/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0" y="713232"/>
            <a:ext cx="109728" cy="109728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0" y="502920"/>
            <a:ext cx="91440" cy="91440"/>
          </a:xfrm>
          <a:prstGeom prst="ellipse">
            <a:avLst/>
          </a:prstGeom>
          <a:solidFill>
            <a:srgbClr val="FD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0" y="640080"/>
            <a:ext cx="82296" cy="82296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FDF3D6"/>
                </a:solidFill>
                <a:latin typeface="Arial"/>
              </a:rPr>
              <a:t>BIRTHDAY CELEBRATION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6766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DF3D6"/>
                </a:solidFill>
                <a:latin typeface="Georgia"/>
              </a:rPr>
              <a:t>Happy Birthday, Aisha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6126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DF3D6"/>
                </a:solidFill>
                <a:latin typeface="Arial"/>
              </a:rPr>
              <a:t>Wishing you a wonderful day from everyone at Hockley Mint. Thank you for the care and craft you bring to the workshop.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spc="300">
                <a:solidFill>
                  <a:srgbClr val="00A478"/>
                </a:solidFill>
                <a:latin typeface="Arial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3387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DF3D6"/>
                </a:solidFill>
                <a:latin typeface="Georgia"/>
              </a:rPr>
              <a:t>Your Hockley Mint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240280"/>
            <a:ext cx="2971800" cy="36576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FDF3D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840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 spc="200">
                <a:solidFill>
                  <a:srgbClr val="FDF3D6"/>
                </a:solidFill>
                <a:latin typeface="Arial"/>
              </a:rPr>
              <a:t>Add a 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868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00A478"/>
                </a:solidFill>
                <a:latin typeface="Arial"/>
              </a:rPr>
              <a:t>UPCOMING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03D22"/>
                </a:solidFill>
                <a:latin typeface="Georgia"/>
              </a:rPr>
              <a:t>This fortnight at the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Key dates and useful reminders for everyone on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429000"/>
            <a:ext cx="1828800" cy="713232"/>
          </a:xfrm>
          <a:prstGeom prst="roundRect">
            <a:avLst>
              <a:gd name="adj" fmla="val 18000"/>
            </a:avLst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FDF3D6"/>
                </a:solidFill>
                <a:latin typeface="Georgia"/>
              </a:rPr>
              <a:t>08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429000"/>
            <a:ext cx="7680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003D22"/>
                </a:solidFill>
                <a:latin typeface="Arial"/>
              </a:rPr>
              <a:t>Co-owners coffee  -  Kitchen  -  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361688"/>
            <a:ext cx="1828800" cy="713232"/>
          </a:xfrm>
          <a:prstGeom prst="roundRect">
            <a:avLst>
              <a:gd name="adj" fmla="val 18000"/>
            </a:avLst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61688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FDF3D6"/>
                </a:solidFill>
                <a:latin typeface="Georgia"/>
              </a:rPr>
              <a:t>13 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361688"/>
            <a:ext cx="7680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003D22"/>
                </a:solidFill>
                <a:latin typeface="Arial"/>
              </a:rPr>
              <a:t>Fire drill  -  whole building  -  11:30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294375"/>
            <a:ext cx="1828800" cy="713232"/>
          </a:xfrm>
          <a:prstGeom prst="roundRect">
            <a:avLst>
              <a:gd name="adj" fmla="val 18000"/>
            </a:avLst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294375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FDF3D6"/>
                </a:solidFill>
                <a:latin typeface="Georgia"/>
              </a:rPr>
              <a:t>22 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294375"/>
            <a:ext cx="7680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003D22"/>
                </a:solidFill>
                <a:latin typeface="Arial"/>
              </a:rPr>
              <a:t>Aurora press preview  -  Showroom  -  10:00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ues (Desktop Wallpaper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00A478"/>
                </a:solidFill>
                <a:latin typeface="Arial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03D22"/>
                </a:solidFill>
                <a:latin typeface="Georgia"/>
              </a:rPr>
              <a:t>Fire drill on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Scheduled drill for all departments. Please leave by your nearest route and meet at the east car park assembly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1168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spc="300">
                <a:solidFill>
                  <a:srgbClr val="FDF3D6"/>
                </a:solidFill>
                <a:latin typeface="Arial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6517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DF3D6"/>
                </a:solidFill>
                <a:latin typeface="Georgia"/>
              </a:rPr>
              <a:t>Tuesday, 11:30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343400"/>
            <a:ext cx="292608" cy="292608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DF3D6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694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Do not use lifts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910328"/>
            <a:ext cx="292608" cy="292608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DF3D6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64608"/>
            <a:ext cx="694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Take visitors with you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477256"/>
            <a:ext cx="292608" cy="292608"/>
          </a:xfrm>
          <a:prstGeom prst="ellipse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DF3D6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31536"/>
            <a:ext cx="694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Return only when cleared by Facilities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00A478"/>
                </a:solidFill>
                <a:latin typeface="Arial"/>
              </a:rPr>
              <a:t>SHOUT-OUTS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003D22"/>
                </a:solidFill>
                <a:latin typeface="Georgia"/>
              </a:rPr>
              <a:t>Kudos from the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003D22"/>
                </a:solidFill>
                <a:latin typeface="Arial"/>
              </a:rPr>
              <a:t>Small notes of appreciation from around the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20040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3566160"/>
            <a:ext cx="777240" cy="777240"/>
          </a:xfrm>
          <a:prstGeom prst="ellipse">
            <a:avLst/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FDF3D6"/>
                </a:solidFill>
                <a:latin typeface="Georgia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5262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DF3D6"/>
                </a:solidFill>
                <a:latin typeface="Georgia"/>
              </a:rPr>
              <a:t>Casting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83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DF3D6"/>
                </a:solidFill>
                <a:latin typeface="Arial"/>
              </a:rPr>
              <a:t>Q1 wedding band run shipped a day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320040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01768" y="3566160"/>
            <a:ext cx="777240" cy="777240"/>
          </a:xfrm>
          <a:prstGeom prst="ellipse">
            <a:avLst/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FDF3D6"/>
                </a:solidFill>
                <a:latin typeface="Georgia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45262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DF3D6"/>
                </a:solidFill>
                <a:latin typeface="Georgia"/>
              </a:rPr>
              <a:t>CAD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4983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DF3D6"/>
                </a:solidFill>
                <a:latin typeface="Arial"/>
              </a:rPr>
              <a:t>Bespoke commission turned around in 48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03336" y="320040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69096" y="3566160"/>
            <a:ext cx="777240" cy="777240"/>
          </a:xfrm>
          <a:prstGeom prst="ellipse">
            <a:avLst/>
          </a:prstGeom>
          <a:solidFill>
            <a:srgbClr val="0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FDF3D6"/>
                </a:solidFill>
                <a:latin typeface="Georgia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6" y="45262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DF3D6"/>
                </a:solidFill>
                <a:latin typeface="Georgia"/>
              </a:rPr>
              <a:t>Despatch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4983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DF3D6"/>
                </a:solidFill>
                <a:latin typeface="Arial"/>
              </a:rPr>
              <a:t>Every next-day parcel out before cut-off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0972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00">
                <a:solidFill>
                  <a:srgbClr val="00A478"/>
                </a:solidFill>
                <a:latin typeface="Arial"/>
              </a:rPr>
              <a:t>USEFUL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03D22"/>
                </a:solidFill>
                <a:latin typeface="Georgia"/>
              </a:rPr>
              <a:t>Brand Guidelines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6126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03D22"/>
                </a:solidFill>
                <a:latin typeface="Arial"/>
              </a:rPr>
              <a:t>The latest brand guidelines are available for anyone preparing internal or customer-facing materials.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spc="300">
                <a:solidFill>
                  <a:srgbClr val="00A478"/>
                </a:solidFill>
                <a:latin typeface="Arial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0235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03D22"/>
                </a:solidFill>
                <a:latin typeface="Georgia"/>
              </a:rPr>
              <a:t>P4707 Hockley Mint Brand Guidelines 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1488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3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61320" y="2148840"/>
            <a:ext cx="731520" cy="502920"/>
          </a:xfrm>
          <a:prstGeom prst="rect">
            <a:avLst/>
          </a:prstGeom>
          <a:solidFill>
            <a:srgbClr val="00A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214884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DF3D6"/>
                </a:solidFill>
                <a:latin typeface="Arial"/>
              </a:rPr>
              <a:t>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971800"/>
            <a:ext cx="201168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3355848"/>
            <a:ext cx="219456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3739896"/>
            <a:ext cx="164592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4123944"/>
            <a:ext cx="219456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4507992"/>
            <a:ext cx="192024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4892040"/>
            <a:ext cx="1463040" cy="109728"/>
          </a:xfrm>
          <a:prstGeom prst="rect">
            <a:avLst/>
          </a:prstGeom>
          <a:solidFill>
            <a:srgbClr val="C7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