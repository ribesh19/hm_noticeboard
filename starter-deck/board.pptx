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dec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68680" y="10515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 spc="400">
                <a:solidFill>
                  <a:srgbClr val="C9A45C"/>
                </a:solidFill>
                <a:latin typeface="Arial"/>
              </a:rPr>
              <a:t>TODAY AT HOCKLEY MINT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508760"/>
            <a:ext cx="7315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000" b="1" i="0">
                <a:solidFill>
                  <a:srgbClr val="F3EFE4"/>
                </a:solidFill>
                <a:latin typeface="Georgia"/>
              </a:rPr>
              <a:t>Good morning, co-owners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246120"/>
            <a:ext cx="612648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 i="0">
                <a:solidFill>
                  <a:srgbClr val="CFE8DD"/>
                </a:solidFill>
                <a:latin typeface="Arial"/>
              </a:rPr>
              <a:t>A quick look at the notices, events, birthdays, values and useful updates for the workshop today.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50749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 spc="300">
                <a:solidFill>
                  <a:srgbClr val="C9A45C"/>
                </a:solidFill>
                <a:latin typeface="Arial"/>
              </a:rPr>
              <a:t>WORKSHOP HOURS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422392"/>
            <a:ext cx="3657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F3EFE4"/>
                </a:solidFill>
                <a:latin typeface="Georgia"/>
              </a:rPr>
              <a:t>07:30 – 17:00</a:t>
            </a:r>
          </a:p>
        </p:txBody>
      </p:sp>
      <p:pic>
        <p:nvPicPr>
          <p:cNvPr id="8" name="Picture 7" descr="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6760" y="2697480"/>
            <a:ext cx="3108960" cy="152669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dec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68680" y="8686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 spc="400">
                <a:solidFill>
                  <a:srgbClr val="C9A45C"/>
                </a:solidFill>
                <a:latin typeface="Arial"/>
              </a:rPr>
              <a:t>ANNOUNCEMENTS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325880"/>
            <a:ext cx="67665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i="0">
                <a:solidFill>
                  <a:srgbClr val="F3EFE4"/>
                </a:solidFill>
                <a:latin typeface="Georgia"/>
              </a:rPr>
              <a:t>Annual co-owners' meeting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788920"/>
            <a:ext cx="65836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 i="0">
                <a:solidFill>
                  <a:srgbClr val="CFE8DD"/>
                </a:solidFill>
                <a:latin typeface="Arial"/>
              </a:rPr>
              <a:t>All co-owners are invited to the main workshop. Agenda: FY results, Aurora collection, sustainability update and open Q&amp;A.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49640" y="2103120"/>
            <a:ext cx="2834640" cy="1371600"/>
          </a:xfrm>
          <a:prstGeom prst="roundRect">
            <a:avLst>
              <a:gd name="adj" fmla="val 10000"/>
            </a:avLst>
          </a:prstGeom>
          <a:solidFill>
            <a:srgbClr val="1C5C47"/>
          </a:solidFill>
          <a:ln w="12700">
            <a:solidFill>
              <a:srgbClr val="C9A4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23960" y="233172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 spc="300">
                <a:solidFill>
                  <a:srgbClr val="ECD6A3"/>
                </a:solidFill>
                <a:latin typeface="Arial"/>
              </a:rPr>
              <a:t>When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23960" y="2697480"/>
            <a:ext cx="2377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F3EFE4"/>
                </a:solidFill>
                <a:latin typeface="Georgia"/>
              </a:rPr>
              <a:t>Friday 16 May
15:00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434840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C9A45C"/>
                </a:solidFill>
                <a:latin typeface="Georgia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4489703"/>
            <a:ext cx="60350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F3EFE4"/>
                </a:solidFill>
                <a:latin typeface="Arial"/>
              </a:rPr>
              <a:t>Refreshments from 14:30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093207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C9A45C"/>
                </a:solidFill>
                <a:latin typeface="Georgia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5148071"/>
            <a:ext cx="60350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F3EFE4"/>
                </a:solidFill>
                <a:latin typeface="Arial"/>
              </a:rPr>
              <a:t>RSVP on the kitchen sign-up sheet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5751575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C9A45C"/>
                </a:solidFill>
                <a:latin typeface="Georgia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5806439"/>
            <a:ext cx="60350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F3EFE4"/>
                </a:solidFill>
                <a:latin typeface="Arial"/>
              </a:rPr>
              <a:t>Questions welcome in advance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dec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Oval 2"/>
          <p:cNvSpPr/>
          <p:nvPr/>
        </p:nvSpPr>
        <p:spPr>
          <a:xfrm>
            <a:off x="3474720" y="548640"/>
            <a:ext cx="146304" cy="146304"/>
          </a:xfrm>
          <a:prstGeom prst="ellipse">
            <a:avLst/>
          </a:prstGeom>
          <a:solidFill>
            <a:srgbClr val="C9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0" y="457200"/>
            <a:ext cx="91440" cy="91440"/>
          </a:xfrm>
          <a:prstGeom prst="ellipse">
            <a:avLst/>
          </a:prstGeom>
          <a:solidFill>
            <a:srgbClr val="CFE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669280" y="713232"/>
            <a:ext cx="109728" cy="109728"/>
          </a:xfrm>
          <a:prstGeom prst="ellipse">
            <a:avLst/>
          </a:prstGeom>
          <a:solidFill>
            <a:srgbClr val="ECD6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766560" y="502920"/>
            <a:ext cx="91440" cy="91440"/>
          </a:xfrm>
          <a:prstGeom prst="ellipse">
            <a:avLst/>
          </a:prstGeom>
          <a:solidFill>
            <a:srgbClr val="CFE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680960" y="640080"/>
            <a:ext cx="82296" cy="82296"/>
          </a:xfrm>
          <a:prstGeom prst="ellipse">
            <a:avLst/>
          </a:prstGeom>
          <a:solidFill>
            <a:srgbClr val="C9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3716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 spc="400">
                <a:solidFill>
                  <a:srgbClr val="CFE8DD"/>
                </a:solidFill>
                <a:latin typeface="Arial"/>
              </a:rPr>
              <a:t>BIRTHDAY CELEBRATION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676656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 i="0">
                <a:solidFill>
                  <a:srgbClr val="F3EFE4"/>
                </a:solidFill>
                <a:latin typeface="Georgia"/>
              </a:rPr>
              <a:t>Happy Birthday, Aisha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840480"/>
            <a:ext cx="61264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 i="0">
                <a:solidFill>
                  <a:srgbClr val="CFE8DD"/>
                </a:solidFill>
                <a:latin typeface="Arial"/>
              </a:rPr>
              <a:t>Wishing you a wonderful day from everyone at Hockley Mint. Thank you for the care and craft you bring to the workshop.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48640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 spc="300">
                <a:solidFill>
                  <a:srgbClr val="C9A45C"/>
                </a:solidFill>
                <a:latin typeface="Arial"/>
              </a:rPr>
              <a:t>FROM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5833872"/>
            <a:ext cx="5029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F3EFE4"/>
                </a:solidFill>
                <a:latin typeface="Georgia"/>
              </a:rPr>
              <a:t>Your Hockley Mint team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0" y="2240280"/>
            <a:ext cx="2971800" cy="3657600"/>
          </a:xfrm>
          <a:prstGeom prst="roundRect">
            <a:avLst>
              <a:gd name="adj" fmla="val 6000"/>
            </a:avLst>
          </a:prstGeom>
          <a:noFill/>
          <a:ln w="19050">
            <a:solidFill>
              <a:srgbClr val="C9A45C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3840480"/>
            <a:ext cx="2971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0" i="0" spc="200">
                <a:solidFill>
                  <a:srgbClr val="BECDC4"/>
                </a:solidFill>
                <a:latin typeface="Arial"/>
              </a:rPr>
              <a:t>Add a photo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dec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68680" y="8686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 spc="400">
                <a:solidFill>
                  <a:srgbClr val="C9A45C"/>
                </a:solidFill>
                <a:latin typeface="Arial"/>
              </a:rPr>
              <a:t>UPCOMING EVENTS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325880"/>
            <a:ext cx="7772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i="0">
                <a:solidFill>
                  <a:srgbClr val="F3EFE4"/>
                </a:solidFill>
                <a:latin typeface="Georgia"/>
              </a:rPr>
              <a:t>This fortnight at the workshop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788920"/>
            <a:ext cx="7315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CFE8DD"/>
                </a:solidFill>
                <a:latin typeface="Arial"/>
              </a:rPr>
              <a:t>Key dates and useful reminders for everyone on site.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3429000"/>
            <a:ext cx="1828800" cy="713232"/>
          </a:xfrm>
          <a:prstGeom prst="roundRect">
            <a:avLst>
              <a:gd name="adj" fmla="val 18000"/>
            </a:avLst>
          </a:prstGeom>
          <a:solidFill>
            <a:srgbClr val="C9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429000"/>
            <a:ext cx="18288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06120D"/>
                </a:solidFill>
                <a:latin typeface="Georgia"/>
              </a:rPr>
              <a:t>08 May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3429000"/>
            <a:ext cx="76809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F3EFE4"/>
                </a:solidFill>
                <a:latin typeface="Arial"/>
              </a:rPr>
              <a:t>Co-owners coffee  ·  Kitchen  ·  09:00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4361688"/>
            <a:ext cx="1828800" cy="713232"/>
          </a:xfrm>
          <a:prstGeom prst="roundRect">
            <a:avLst>
              <a:gd name="adj" fmla="val 18000"/>
            </a:avLst>
          </a:prstGeom>
          <a:solidFill>
            <a:srgbClr val="C9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361688"/>
            <a:ext cx="18288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06120D"/>
                </a:solidFill>
                <a:latin typeface="Georgia"/>
              </a:rPr>
              <a:t>13 May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4361688"/>
            <a:ext cx="76809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F3EFE4"/>
                </a:solidFill>
                <a:latin typeface="Arial"/>
              </a:rPr>
              <a:t>Fire drill  ·  whole building  ·  11:30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5294375"/>
            <a:ext cx="1828800" cy="713232"/>
          </a:xfrm>
          <a:prstGeom prst="roundRect">
            <a:avLst>
              <a:gd name="adj" fmla="val 18000"/>
            </a:avLst>
          </a:prstGeom>
          <a:solidFill>
            <a:srgbClr val="C9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294375"/>
            <a:ext cx="18288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06120D"/>
                </a:solidFill>
                <a:latin typeface="Georgia"/>
              </a:rPr>
              <a:t>22 May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5294375"/>
            <a:ext cx="76809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F3EFE4"/>
                </a:solidFill>
                <a:latin typeface="Arial"/>
              </a:rPr>
              <a:t>Aurora press preview  ·  Showroom  ·  10:00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alues (Desktop Wallpaper)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dec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3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8686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 spc="400">
                <a:solidFill>
                  <a:srgbClr val="F2C66A"/>
                </a:solidFill>
                <a:latin typeface="Arial"/>
              </a:rPr>
              <a:t>SAFETY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325880"/>
            <a:ext cx="7498079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800" b="1" i="0">
                <a:solidFill>
                  <a:srgbClr val="F3EFE4"/>
                </a:solidFill>
                <a:latin typeface="Georgia"/>
              </a:rPr>
              <a:t>Fire drill on Tuesday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697480"/>
            <a:ext cx="67665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 i="0">
                <a:solidFill>
                  <a:srgbClr val="CFE8DD"/>
                </a:solidFill>
                <a:latin typeface="Arial"/>
              </a:rPr>
              <a:t>Scheduled drill for all departments. Please leave by your nearest route and meet at the east car park assembly point.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0" y="2011680"/>
            <a:ext cx="2743200" cy="1463040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E3A9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0" y="2286000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 spc="300">
                <a:solidFill>
                  <a:srgbClr val="F2C66A"/>
                </a:solidFill>
                <a:latin typeface="Arial"/>
              </a:rPr>
              <a:t>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0" y="2651760"/>
            <a:ext cx="2286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F3EFE4"/>
                </a:solidFill>
                <a:latin typeface="Georgia"/>
              </a:rPr>
              <a:t>Tuesday, 11:30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4343400"/>
            <a:ext cx="292608" cy="292608"/>
          </a:xfrm>
          <a:prstGeom prst="ellipse">
            <a:avLst/>
          </a:prstGeom>
          <a:solidFill>
            <a:srgbClr val="E3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400" b="1">
                <a:solidFill>
                  <a:srgbClr val="06120D"/>
                </a:solidFill>
                <a:latin typeface="Arial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297680"/>
            <a:ext cx="6949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F3EFE4"/>
                </a:solidFill>
                <a:latin typeface="Arial"/>
              </a:rPr>
              <a:t>Do not use lifts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4910328"/>
            <a:ext cx="292608" cy="292608"/>
          </a:xfrm>
          <a:prstGeom prst="ellipse">
            <a:avLst/>
          </a:prstGeom>
          <a:solidFill>
            <a:srgbClr val="E3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400" b="1">
                <a:solidFill>
                  <a:srgbClr val="06120D"/>
                </a:solidFill>
                <a:latin typeface="Arial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864608"/>
            <a:ext cx="6949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F3EFE4"/>
                </a:solidFill>
                <a:latin typeface="Arial"/>
              </a:rPr>
              <a:t>Take visitors with you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5477256"/>
            <a:ext cx="292608" cy="292608"/>
          </a:xfrm>
          <a:prstGeom prst="ellipse">
            <a:avLst/>
          </a:prstGeom>
          <a:solidFill>
            <a:srgbClr val="E3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400" b="1">
                <a:solidFill>
                  <a:srgbClr val="06120D"/>
                </a:solidFill>
                <a:latin typeface="Arial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5431536"/>
            <a:ext cx="6949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F3EFE4"/>
                </a:solidFill>
                <a:latin typeface="Arial"/>
              </a:rPr>
              <a:t>Return only when cleared by Facilities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dec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68680" y="8229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 spc="400">
                <a:solidFill>
                  <a:srgbClr val="C9A45C"/>
                </a:solidFill>
                <a:latin typeface="Arial"/>
              </a:rPr>
              <a:t>SHOUT-OUTS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280160"/>
            <a:ext cx="8229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600" b="1" i="0">
                <a:solidFill>
                  <a:srgbClr val="F3EFE4"/>
                </a:solidFill>
                <a:latin typeface="Georgia"/>
              </a:rPr>
              <a:t>Kudos from the workshop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377440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CFE8DD"/>
                </a:solidFill>
                <a:latin typeface="Arial"/>
              </a:rPr>
              <a:t>Small notes of appreciation from around the business.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3200400"/>
            <a:ext cx="3383280" cy="2697480"/>
          </a:xfrm>
          <a:prstGeom prst="roundRect">
            <a:avLst>
              <a:gd name="adj" fmla="val 8000"/>
            </a:avLst>
          </a:prstGeom>
          <a:solidFill>
            <a:srgbClr val="1C5C47"/>
          </a:solidFill>
          <a:ln w="12700">
            <a:solidFill>
              <a:srgbClr val="C9A4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234440" y="3566160"/>
            <a:ext cx="777240" cy="777240"/>
          </a:xfrm>
          <a:prstGeom prst="ellipse">
            <a:avLst/>
          </a:prstGeom>
          <a:solidFill>
            <a:srgbClr val="C9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1">
                <a:solidFill>
                  <a:srgbClr val="06120D"/>
                </a:solidFill>
                <a:latin typeface="Georgia"/>
              </a:rPr>
              <a:t>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4526280"/>
            <a:ext cx="26517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ECD6A3"/>
                </a:solidFill>
                <a:latin typeface="Georgia"/>
              </a:rPr>
              <a:t>Casting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4983480"/>
            <a:ext cx="2651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F3EFE4"/>
                </a:solidFill>
                <a:latin typeface="Arial"/>
              </a:rPr>
              <a:t>Q1 wedding band run shipped a day early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36008" y="3200400"/>
            <a:ext cx="3383280" cy="2697480"/>
          </a:xfrm>
          <a:prstGeom prst="roundRect">
            <a:avLst>
              <a:gd name="adj" fmla="val 8000"/>
            </a:avLst>
          </a:prstGeom>
          <a:solidFill>
            <a:srgbClr val="1C5C47"/>
          </a:solidFill>
          <a:ln w="12700">
            <a:solidFill>
              <a:srgbClr val="C9A4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001768" y="3566160"/>
            <a:ext cx="777240" cy="777240"/>
          </a:xfrm>
          <a:prstGeom prst="ellipse">
            <a:avLst/>
          </a:prstGeom>
          <a:solidFill>
            <a:srgbClr val="C9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1">
                <a:solidFill>
                  <a:srgbClr val="06120D"/>
                </a:solidFill>
                <a:latin typeface="Georgia"/>
              </a:rPr>
              <a:t>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01768" y="4526280"/>
            <a:ext cx="26517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ECD6A3"/>
                </a:solidFill>
                <a:latin typeface="Georgia"/>
              </a:rPr>
              <a:t>CAD team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01768" y="4983480"/>
            <a:ext cx="2651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F3EFE4"/>
                </a:solidFill>
                <a:latin typeface="Arial"/>
              </a:rPr>
              <a:t>Bespoke commission turned around in 48 hours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03336" y="3200400"/>
            <a:ext cx="3383280" cy="2697480"/>
          </a:xfrm>
          <a:prstGeom prst="roundRect">
            <a:avLst>
              <a:gd name="adj" fmla="val 8000"/>
            </a:avLst>
          </a:prstGeom>
          <a:solidFill>
            <a:srgbClr val="1C5C47"/>
          </a:solidFill>
          <a:ln w="12700">
            <a:solidFill>
              <a:srgbClr val="C9A4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769096" y="3566160"/>
            <a:ext cx="777240" cy="777240"/>
          </a:xfrm>
          <a:prstGeom prst="ellipse">
            <a:avLst/>
          </a:prstGeom>
          <a:solidFill>
            <a:srgbClr val="C9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1">
                <a:solidFill>
                  <a:srgbClr val="06120D"/>
                </a:solidFill>
                <a:latin typeface="Georgia"/>
              </a:rPr>
              <a:t>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69096" y="4526280"/>
            <a:ext cx="26517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ECD6A3"/>
                </a:solidFill>
                <a:latin typeface="Georgia"/>
              </a:rPr>
              <a:t>Despatch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69096" y="4983480"/>
            <a:ext cx="2651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F3EFE4"/>
                </a:solidFill>
                <a:latin typeface="Arial"/>
              </a:rPr>
              <a:t>Every next-day parcel out before cut-off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dec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68680" y="10972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 spc="400">
                <a:solidFill>
                  <a:srgbClr val="C9A45C"/>
                </a:solidFill>
                <a:latin typeface="Arial"/>
              </a:rPr>
              <a:t>USEFUL DOCUMENT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67665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800" b="1" i="0">
                <a:solidFill>
                  <a:srgbClr val="F3EFE4"/>
                </a:solidFill>
                <a:latin typeface="Georgia"/>
              </a:rPr>
              <a:t>Brand Guidelines V2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880360"/>
            <a:ext cx="61264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 i="0">
                <a:solidFill>
                  <a:srgbClr val="CFE8DD"/>
                </a:solidFill>
                <a:latin typeface="Arial"/>
              </a:rPr>
              <a:t>The latest brand guidelines are available for anyone preparing internal or customer-facing materials.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7548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 spc="300">
                <a:solidFill>
                  <a:srgbClr val="C9A45C"/>
                </a:solidFill>
                <a:latin typeface="Arial"/>
              </a:rPr>
              <a:t>PDF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102352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F3EFE4"/>
                </a:solidFill>
                <a:latin typeface="Georgia"/>
              </a:rPr>
              <a:t>P4707 Hockley Mint Brand Guidelines V2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49640" y="2148840"/>
            <a:ext cx="2743200" cy="3566160"/>
          </a:xfrm>
          <a:prstGeom prst="roundRect">
            <a:avLst>
              <a:gd name="adj" fmla="val 3000"/>
            </a:avLst>
          </a:prstGeom>
          <a:solidFill>
            <a:srgbClr val="F3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561320" y="2148840"/>
            <a:ext cx="731520" cy="502920"/>
          </a:xfrm>
          <a:prstGeom prst="rect">
            <a:avLst/>
          </a:prstGeom>
          <a:solidFill>
            <a:srgbClr val="C9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61320" y="2148840"/>
            <a:ext cx="7315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6120D"/>
                </a:solidFill>
                <a:latin typeface="Arial"/>
              </a:rPr>
              <a:t>PDF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869680" y="2971800"/>
            <a:ext cx="2011680" cy="109728"/>
          </a:xfrm>
          <a:prstGeom prst="rect">
            <a:avLst/>
          </a:prstGeom>
          <a:solidFill>
            <a:srgbClr val="C9C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869680" y="3355848"/>
            <a:ext cx="2194560" cy="109728"/>
          </a:xfrm>
          <a:prstGeom prst="rect">
            <a:avLst/>
          </a:prstGeom>
          <a:solidFill>
            <a:srgbClr val="C9C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869680" y="3739896"/>
            <a:ext cx="1645920" cy="109728"/>
          </a:xfrm>
          <a:prstGeom prst="rect">
            <a:avLst/>
          </a:prstGeom>
          <a:solidFill>
            <a:srgbClr val="C9C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869680" y="4123944"/>
            <a:ext cx="2194560" cy="109728"/>
          </a:xfrm>
          <a:prstGeom prst="rect">
            <a:avLst/>
          </a:prstGeom>
          <a:solidFill>
            <a:srgbClr val="C9C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869680" y="4507992"/>
            <a:ext cx="1920240" cy="109728"/>
          </a:xfrm>
          <a:prstGeom prst="rect">
            <a:avLst/>
          </a:prstGeom>
          <a:solidFill>
            <a:srgbClr val="C9C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869680" y="4892040"/>
            <a:ext cx="1463040" cy="109728"/>
          </a:xfrm>
          <a:prstGeom prst="rect">
            <a:avLst/>
          </a:prstGeom>
          <a:solidFill>
            <a:srgbClr val="C9C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